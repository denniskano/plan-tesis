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[0:00–0:45] Jack. Título + tipo investigación + clasificación ACM/IEEE.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EXPONER. Saltar en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[0:45–1:35] Alex. Conceptos antes del problema (PI-12).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[1:35–2:20] Jack. Señalar cajas; ID {fuente}_{SD}_{versión}.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[2:20–3:10] Jack. Situación real ≠ objeto ≠ problema tecnológico.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[3:10–4:05] Jack. Tener PDF Casas listo (PI-13). Señalar cifra 68 %.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[4:05–4:50] Jack. BIAN = referencia, no objeto.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[4:50–5:30] Jack. Ciclo de vida del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[5:30–6:15] Alex. Instrumento = procedimiento, no encuesta.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[6:15–7:00] Alex. Ejemplos Anexo 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[7:00–7:50] Alex. «Insuficiente», no «no existe» (PI-12).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[7:50–8:25] Alex. Separar OG técnico vs objetivo superior.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[8:25–9:15] Alex. OE1 normaliza · OE2→E · OE3→S · OE4→C + AlignmentScore.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[9:15–9:55] Alex. VI = factores de diseño.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[9:55–10:35] Alex. VD = AlignmentScore + clasificación.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[10:35–11:15] Alex. Partir por metodología (PI-14).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[11:15–12:00] Alex. Shvaiko (2005) sustenta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[12:00–12:40] Alex. Matriz ≠ brecha Cap.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[12:40–13:20] Alex. Matriz completa en PDF Anexo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[13:20–14:00] Jack: V1–V2 · Alex: V3–V5.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[14:00–14:30] Jack. Concluir con relaciones, no opinión.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[14:30–14:45] Alex. Breve; continuidad post-Guía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[14:45–15:00] Jack. PDFs Casas y Shvaiko abiertos. ¿Preguntas?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234440"/>
            <a:ext cx="11274552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9.2 · Plan de Tesis · UNI · Jul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PLI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234440"/>
            <a:ext cx="5257800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3" hasCustomPrompt="1"/>
          </p:nvPr>
        </p:nvSpPr>
        <p:spPr>
          <a:xfrm>
            <a:off x="5897880" y="1234440"/>
            <a:ext cx="5833872" cy="5074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5" name="Text 0"/>
          <p:cNvSpPr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9.2 · Plan de Tesis · UNI · Jul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FIG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>
            <p:ph idx="102" hasCustomPrompt="1"/>
          </p:nvPr>
        </p:nvSpPr>
        <p:spPr>
          <a:xfrm>
            <a:off x="594360" y="1143000"/>
            <a:ext cx="11000232" cy="4892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9.2 · Plan de Tesis · UNI · Jul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ECTION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2377440"/>
            <a:ext cx="1072591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9.2 · Plan de Tesis · UNI · Jul 2026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Alineación contratos OpenAPI bancarios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 Service Domains BIAN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Investigación tecnológica · Design Science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IEEE: Knowledge Representation · ACM: Semantic networks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9.2 — Alex Mancilla · Jack Paitan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Nacional de Ingeniería · Julio 2026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5943600"/>
            <a:ext cx="2011680" cy="54864"/>
          </a:xfrm>
          <a:prstGeom prst="rect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⛔ NO EXPONER EN CLASE — solo entrega (ppt-rules §3)</a:t>
            </a:r>
            <a:endParaRPr lang="en-US" sz="16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bibliográficas y gestión documental</a:t>
            </a:r>
            <a:endParaRPr lang="en-US" sz="24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457200" y="1234440"/>
            <a:ext cx="11274552" cy="5074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Formato: una sola fuente · texto ≥ 20 pt · figuras con caption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Gestión: Zotero + carpeta Drive del grupo (entrega Guía 1)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slide documenta cumplimiento de formato — no forma parte del guion oral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exposición: avanzar de slide 1 directamente a slide 3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 y BIAN definen el problema de alineación documental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234440"/>
            <a:ext cx="11274552" cy="5074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OpenAPI: contrato YAML/JSON machine-readable (Casas et al., 2021)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BIAN: Service Domains como referencia de negocio (Farzi, 2021)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Alineación = correspondencia estructural + semántica contrato ↔ SD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del plan: S, E, C → AlignmentScore (procedimiento reproducible)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1: diseño documentado; validación empírica → Tesis 2 (§1.6)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ontología separa objeto, UA, producto y referencia BIAN</a:t>
            </a:r>
            <a:endParaRPr lang="en-US" sz="2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234440"/>
            <a:ext cx="525780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real: contrato OpenAPI bancario completo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UA: instancia {fuente}_{SD}_{versión}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Producto: scores S, E, C + AlignmentScore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BIAN = referencia de contraste, no objeto</a:t>
            </a:r>
            <a:endParaRPr lang="en-US" sz="1800" dirty="0"/>
          </a:p>
        </p:txBody>
      </p:sp>
      <p:pic>
        <p:nvPicPr>
          <p:cNvPr id="4" name="Image 0" descr="/Users/jackpaitan/maestria-uni/ciclo-03/mia-proyecto-investigacion/proyecto-investigacion-v3/plan-tesis/exposicion/ppt/assets/Figura_02_Objeto_Unidad_Analis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97880" y="1234440"/>
            <a:ext cx="5833872" cy="507492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3" hasCustomPrompt="1"/>
          </p:nvPr>
        </p:nvSpPr>
        <p:spPr>
          <a:xfrm>
            <a:off x="5897880" y="1234440"/>
            <a:ext cx="5833872" cy="5074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problemática ocurre en el ecosistema bancario digital (§1.2)</a:t>
            </a:r>
            <a:endParaRPr lang="en-US" sz="2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234440"/>
            <a:ext cx="525780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Dónde: APIs propias, fintechs, open banking (CMA, 2016)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Ambiente: contratos OpenAPI antes del despliegue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Actores: arquitectura, integración, gobernanza, socios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problemática no se resuelve solo con el artefacto del plan</a:t>
            </a:r>
            <a:endParaRPr lang="en-US" sz="1800" dirty="0"/>
          </a:p>
        </p:txBody>
      </p:sp>
      <p:pic>
        <p:nvPicPr>
          <p:cNvPr id="4" name="Image 0" descr="/Users/jackpaitan/maestria-uni/ciclo-03/mia-proyecto-investigacion/proyecto-investigacion-v3/plan-tesis/exposicion/ppt/assets/Figura_01_Contex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97880" y="1234440"/>
            <a:ext cx="5833872" cy="507492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3" hasCustomPrompt="1"/>
          </p:nvPr>
        </p:nvSpPr>
        <p:spPr>
          <a:xfrm>
            <a:off x="5897880" y="1234440"/>
            <a:ext cx="5833872" cy="5074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Síntomas y evidencia sectorial motivan medir coherencia antes de integrar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234440"/>
            <a:ext cx="11274552" cy="5074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Síntomas: fragmentación semántica, costos de integración, deriva negocio–REST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Dolor: retrabajo en adaptadores, ensayo–error, riesgo en releases (TSB, 2018)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Casas et al. (2021): 68 % papers proponen herramientas; 43 % documentación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Actores más afectados: equipos de integración y gobernanza de APIs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 medir coherencia documental antes de exponer servicios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objeto es el contrato OpenAPI; BIAN es referencia (§1.4)</a:t>
            </a:r>
            <a:endParaRPr lang="en-US" sz="2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234440"/>
            <a:ext cx="525780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Causa: desalineación entre capa REST y modelo BIAN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Objeto: contrato OpenAPI (paths, operations, schemas)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jerarquías comparables: OpenAPI ↔ Service Domain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ontología (slide 4) al exponer el problema subyacente</a:t>
            </a:r>
            <a:endParaRPr lang="en-US" sz="1800" dirty="0"/>
          </a:p>
        </p:txBody>
      </p:sp>
      <p:pic>
        <p:nvPicPr>
          <p:cNvPr id="4" name="Image 0" descr="/Users/jackpaitan/maestria-uni/ciclo-03/mia-proyecto-investigacion/proyecto-investigacion-v3/plan-tesis/exposicion/ppt/assets/Figura_02_Objeto_Unidad_Analisi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97880" y="1234440"/>
            <a:ext cx="5833872" cy="507492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3" hasCustomPrompt="1"/>
          </p:nvPr>
        </p:nvSpPr>
        <p:spPr>
          <a:xfrm>
            <a:off x="5897880" y="1234440"/>
            <a:ext cx="5833872" cy="5074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contrato publicado es la entidad real observable del estudio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234440"/>
            <a:ext cx="11274552" cy="5074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 real: contrato OpenAPI publicado por un banco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Taxonomía: OpenAPI 3.x · pagos / cuentas / préstamos · versiones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vida: diseño → revisión → publicación → consumo (no tráfico runtime)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Registro: archivo versionado en repositorio / portal de desarrolladores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Anexo F: pares contrato ↔ Payment Initiation SD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instrumento captura y normaliza contrato y Service Domain</a:t>
            </a:r>
            <a:endParaRPr lang="en-US" sz="2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234440"/>
            <a:ext cx="5257800" cy="5074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 OpenAPI 3.x + extracto BIAN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Procedimiento de normalización (OE1)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matching + similitud semántica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Salida: representaciones + matrices + scores S/E/C</a:t>
            </a:r>
            <a:endParaRPr lang="en-US" sz="1800" dirty="0"/>
          </a:p>
        </p:txBody>
      </p:sp>
      <p:pic>
        <p:nvPicPr>
          <p:cNvPr id="4" name="Image 0" descr="/Users/jackpaitan/maestria-uni/ciclo-03/mia-proyecto-investigacion/proyecto-investigacion-v3/plan-tesis/exposicion/ppt/assets/Figura_05_Bases_Conceptua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97880" y="1234440"/>
            <a:ext cx="5833872" cy="507492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3" hasCustomPrompt="1"/>
          </p:nvPr>
        </p:nvSpPr>
        <p:spPr>
          <a:xfrm>
            <a:off x="5897880" y="1234440"/>
            <a:ext cx="5833872" cy="5074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Instancias modeladas ilustran cómo S, E y C responden al diseño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234440"/>
            <a:ext cx="11274552" cy="5074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A: POST /payments vs InitiatePayment → afecta 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B: GET /payments/{id} vs 3 behaviors → afecta C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de clasificación del artefacto: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≥0,80 · Media 0,60–0,79 · Baja 0,40–0,59 · Nula &lt;0,40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artefacto responde P1–P4 con métodos insuficientes hoy (§1.3)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234440"/>
            <a:ext cx="11274552" cy="5074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Artefacto: procedimiento + modelo S/E/C → AlignmentScore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Tipo: clasificación + regresión acotada [0,1] por score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Problema: métodos no adaptados a OpenAPI↔BIAN (Shvaiko, 2005; Casas, 2021)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matching estructural · P2 similitud semántica · P3 cobertura · P4 score integrado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relacionado al artefacto — no a la problemática del sector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objetivo general diseña el procedimiento reproducible S/E/C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234440"/>
            <a:ext cx="11274552" cy="5074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Insumo: contrato OpenAPI + Service Domain BIAN emparejado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OG: diseñar modelo S/E/C y procedimiento reproducible de alineación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 del artefacto: AlignmentScore ∈ [0,1] + clasificación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superior: cuantificar coherencia antes del despliegue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Medida: S, E, C y score integrado por contrato × SD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OE1–OE4 encadenan normalización, E, S y C con productos verificables</a:t>
            </a:r>
            <a:endParaRPr lang="en-US" sz="2200" dirty="0"/>
          </a:p>
        </p:txBody>
      </p:sp>
      <p:pic>
        <p:nvPicPr>
          <p:cNvPr id="3" name="Image 0" descr="/Users/jackpaitan/maestria-uni/ciclo-03/mia-proyecto-investigacion/proyecto-investigacion-v3/plan-tesis/exposicion/ppt/assets/Figura_04_Cadena_Objetiv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143000"/>
            <a:ext cx="11000232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6053328"/>
            <a:ext cx="11000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OE es hito con producto medible — no «programar» ni «experimentar»</a:t>
            </a:r>
            <a:endParaRPr lang="en-US" sz="1800" dirty="0"/>
          </a:p>
        </p:txBody>
      </p:sp>
      <p:sp>
        <p:nvSpPr>
          <p:cNvPr id="6" name="Text 0"/>
          <p:cNvSpPr/>
          <p:nvPr>
            <p:ph idx="102" hasCustomPrompt="1"/>
          </p:nvPr>
        </p:nvSpPr>
        <p:spPr>
          <a:xfrm>
            <a:off x="594360" y="1143000"/>
            <a:ext cx="11000232" cy="4892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independientes — factores de diseño del investigador (Tabla 5)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65992" cy="502920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758952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Factor (VI)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Estados / alternativas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Esquema de representación intermedia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Paths/schemas vs behaviors/BO normalizados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Estrategia de schema matching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Correspondencia estructural + umbral fijo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Técnica de similitud semántica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Embeddings / ontología / híbrido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Pesos α, β, γ de agregación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α+β+γ=1; taxonomía de tipologías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ph idx="102" type="body" hasCustomPrompt="1"/>
          </p:nvPr>
        </p:nvSpPr>
        <p:spPr>
          <a:xfrm>
            <a:off x="457200" y="1234440"/>
            <a:ext cx="11274552" cy="5074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dependientes — ratios por OE (Tabla 5 · Anexo D)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65992" cy="5029200"/>
        </p:xfrm>
        <a:graphic>
          <a:graphicData uri="http://schemas.openxmlformats.org/drawingml/2006/table">
            <a:tbl>
              <a:tblPr/>
              <a:tblGrid>
                <a:gridCol w="731520"/>
                <a:gridCol w="3200400"/>
                <a:gridCol w="749808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 (VD)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Rango / fórmula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Completitud de normalización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Elementos extraídos / esperados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StructuralScore (E)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 ∈ [0, 1] — schema matching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SemanticScore (S)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∈ [0, 1] — similitud semántica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CoverageScore (C); AlignmentScore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∈ [0,1]; Score = αS+βE+γC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ph idx="102" type="body" hasCustomPrompt="1"/>
          </p:nvPr>
        </p:nvSpPr>
        <p:spPr>
          <a:xfrm>
            <a:off x="457200" y="1234440"/>
            <a:ext cx="11274552" cy="5074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fases con verbos de diseño guían el procedimiento (§4.2)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234440"/>
            <a:ext cx="11274552" cy="5074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 · Diseñar entradas, scores y umbrales → modelo S/E/C documentado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· Normalizar contrato + SD → representaciones comparables (OE1)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 · Emparejar estructuras → StructuralScore E (OE2)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 · Calcular similitud → SemanticScore S (OE3)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5 · Integrar S,E,C → CoverageScore + AlignmentScore + tipologías (OE4)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AlignmentScore integra S, E y C con pesos α, β, γ</a:t>
            </a:r>
            <a:endParaRPr lang="en-US" sz="2200" dirty="0"/>
          </a:p>
        </p:txBody>
      </p:sp>
      <p:pic>
        <p:nvPicPr>
          <p:cNvPr id="3" name="Image 0" descr="/Users/jackpaitan/maestria-uni/ciclo-03/mia-proyecto-investigacion/proyecto-investigacion-v3/plan-tesis/exposicion/ppt/assets/Figura_03_AlignmentSc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143000"/>
            <a:ext cx="11000232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6053328"/>
            <a:ext cx="11000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AlignmentScore = α·S + β·E + γ·C  →  Alta / Media / Baja / Nula</a:t>
            </a:r>
            <a:endParaRPr lang="en-US" sz="1800" dirty="0"/>
          </a:p>
        </p:txBody>
      </p:sp>
      <p:sp>
        <p:nvSpPr>
          <p:cNvPr id="6" name="Text 0"/>
          <p:cNvSpPr/>
          <p:nvPr>
            <p:ph idx="102" hasCustomPrompt="1"/>
          </p:nvPr>
        </p:nvSpPr>
        <p:spPr>
          <a:xfrm>
            <a:off x="594360" y="1143000"/>
            <a:ext cx="11000232" cy="4892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consistencia (I) — problema tecnológico y productos (Anexo C)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65992" cy="5029200"/>
        </p:xfrm>
        <a:graphic>
          <a:graphicData uri="http://schemas.openxmlformats.org/drawingml/2006/table">
            <a:tbl>
              <a:tblPr/>
              <a:tblGrid>
                <a:gridCol w="822960"/>
                <a:gridCol w="3200400"/>
                <a:gridCol w="2560320"/>
                <a:gridCol w="484632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Problema tecnológico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 verificable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insuficiente para cuantificar alineación OpenAPI↔BIAN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Diseñar modelo S/E/C y procedimiento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 metodológico documentado (Anexo C)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Representaciones no comparables entre contrato y SD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OE1 · Normalizar artefactos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Representaciones normalizadas versionadas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 StructuralScore sistemático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OE2 · Emparejar estructuras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correspondencias + E ∈ [0,1]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ph idx="102" type="body" hasCustomPrompt="1"/>
          </p:nvPr>
        </p:nvSpPr>
        <p:spPr>
          <a:xfrm>
            <a:off x="457200" y="1234440"/>
            <a:ext cx="11274552" cy="5074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consistencia (II) — VI · VD · Hipótesis</a:t>
            </a:r>
            <a:endParaRPr lang="en-US" sz="2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65992" cy="50292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  <a:gridCol w="2926080"/>
                <a:gridCol w="4937760"/>
              </a:tblGrid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 independiente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 dependiente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Hipótesis (síntesis)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Esquema S/E/C; pesos α,β,γ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 scores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H0: modelo S/E/C reproducible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Esquema intermedio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Completitud normalización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 (OE1)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 matching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StructuralScore 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 (OE2)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 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Similitud semántica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SemanticScore 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 (OE3)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 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Pesos α,β,γ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C; AlignmentScore; clasif.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H4 (OE4)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ph idx="102" type="body" hasCustomPrompt="1"/>
          </p:nvPr>
        </p:nvSpPr>
        <p:spPr>
          <a:xfrm>
            <a:off x="457200" y="1234440"/>
            <a:ext cx="11274552" cy="5074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777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brecha V1–V5 (§3.6) no debe confundirse con la matriz</a:t>
            </a:r>
            <a:endParaRPr lang="en-US" sz="2200" dirty="0"/>
          </a:p>
        </p:txBody>
      </p:sp>
      <p:pic>
        <p:nvPicPr>
          <p:cNvPr id="3" name="Image 0" descr="/Users/jackpaitan/maestria-uni/ciclo-03/mia-proyecto-investigacion/proyecto-investigacion-v3/plan-tesis/exposicion/ppt/assets/Figura_06_Brech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143000"/>
            <a:ext cx="11000232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6053328"/>
            <a:ext cx="11000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Brecha = estado del arte · Matriz = problema tecnológico del diseño</a:t>
            </a:r>
            <a:endParaRPr lang="en-US" sz="1800" dirty="0"/>
          </a:p>
        </p:txBody>
      </p:sp>
      <p:sp>
        <p:nvSpPr>
          <p:cNvPr id="6" name="Text 0"/>
          <p:cNvSpPr/>
          <p:nvPr>
            <p:ph idx="102" hasCustomPrompt="1"/>
          </p:nvPr>
        </p:nvSpPr>
        <p:spPr>
          <a:xfrm>
            <a:off x="594360" y="1143000"/>
            <a:ext cx="11000232" cy="4892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plan entrega diseño reproducible; Tesis 2 validará el artefacto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234440"/>
            <a:ext cx="11274552" cy="5074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 maduro técnicamente; falta procedimiento OpenAPI↔BIAN reproducible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(contrato) + referencia (BIAN) + UA → scores S/E/C integrados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OE1–OE4 encadenan transformaciones con productos verificables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Anexo C alinea problema tecnológico, objetivos, VI/VD e hipótesis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1 entrega diseño; Tesis 2: artefacto software y validación empírica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hacia Tesis 2 y gobernanza de APIs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234440"/>
            <a:ext cx="11274552" cy="5074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artefacto software según procedimiento §4.2 (Tesis 2)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Calibrar umbrales 0,80/0,60/0,40 con muestra bancaria representativa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Validar hipótesis H1–H4 con contratos OpenAPI 3.x públicos (Anexo F)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score en pipeline de gobernanza de APIs antes del despliegue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457200" y="256032"/>
            <a:ext cx="11274552" cy="8686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citadas en esta exposición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457200" y="1234440"/>
            <a:ext cx="11274552" cy="50749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Casas, L., Pinto, S. &amp; Silva, J. (2021). OpenAPI specification survey. J. Syst. Softw.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Shvaiko, P. &amp; Euzenat, J. (2005). A survey of schema-based matching approaches. J. Data Semant.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Farzi, H. et al. (2021). BIAN service landscape. BIAN documentation.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CMA (2016). Retail banking market investigation. UK Competition and Markets Authority.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Treasury / TSB (2018). Independent review of TSB IT failure.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36E72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Universidad Nacional de Ingeniería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Exposición Plan de Tesis Grupo 9.2 (v2)</dc:title>
  <dc:subject>Plan de Tesis — Alineación OpenAPI ↔ BIAN</dc:subject>
  <dc:creator>Grupo 9.2 — Alex Mancilla · Jack Paitan</dc:creator>
  <cp:lastModifiedBy>Grupo 9.2 — Alex Mancilla · Jack Paitan</cp:lastModifiedBy>
  <cp:revision>1</cp:revision>
  <dcterms:created xsi:type="dcterms:W3CDTF">2026-07-24T00:58:36Z</dcterms:created>
  <dcterms:modified xsi:type="dcterms:W3CDTF">2026-07-24T00:58:36Z</dcterms:modified>
</cp:coreProperties>
</file>
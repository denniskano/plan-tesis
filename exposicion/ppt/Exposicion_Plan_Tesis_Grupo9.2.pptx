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6"/>
    <p:sldId id="276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72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21.xml"/><Relationship Id="rId6" Type="http://schemas.openxmlformats.org/officeDocument/2006/relationships/slide" Target="slides/slide2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[0:00–0:40] Jack. Título + tipo investigación + clasificación ACM/IEEE.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[0:40–1:30] Alex. Conceptos antes del problema (PI-12).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[1:30–2:15] Jack. Señalar cajas; ID {fuente}_{SD}_{versión}.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[2:15–3:00] Jack. Situación real ≠ objeto ≠ problema tecnológico.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[3:00–3:45] Jack. Tener PDF Casas listo (PI-13).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[3:45–4:30] Jack. BIAN = referencia, no objeto.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[4:30–5:00] Jack. Ciclo de vida del contrato, no del proceso bancario completo.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[5:00–5:45] Alex. Instrumento = procedimiento, no encuesta ni IoT.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[5:45–6:30] Alex. «Insuficiente», no «no existe» (PI-12).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[6:30–7:00] Alex. Separar OG técnico vs objetivo superior.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[7:00–7:45] Alex. OE1 normaliza · OE2→E · OE3→S · OE4→C + AlignmentScore.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[7:45–8:15] Alex. VI = factores de diseño, no hiperparámetros de entrenamiento.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[8:15–8:45] Alex. VD del artefacto = AlignmentScore + clasificación.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[8:45–9:15] Alex. Partir por metodología (PI-14 cangrejo).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[9:15–9:45] Alex. Shvaiko (2005) sustenta E; scores por UA, agregado por contrato×SD.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[9:45–10:15] Alex. Matriz ≠ brecha Cap. 3. Problema tecnológico ≠ problemática §1.2.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[10:15–10:45] Alex. Señalar fila Fase 1–OE4; matriz completa en PDF Anexo C.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[10:45–11:05] Jack: V1–V2 · Alex: V3–V5.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[11:05–11:25] Jack. Concluir con relaciones, no opinión (ppt-rules).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[11:25–11:40] Alex. Breve; foco en continuidad post-Guía 1.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[11:40–12:00] Jack. PDFs Casas y Shvaiko abiertos para preguntas. ¿Preguntas?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24422" y="198548"/>
            <a:ext cx="8695155" cy="5727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200">
                <a:solidFill>
                  <a:srgbClr val="00B05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26206" y="897717"/>
            <a:ext cx="8695155" cy="40472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86453" y="190597"/>
            <a:ext cx="879495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86453" y="977228"/>
            <a:ext cx="879495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B05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Alineación contratos OpenAPI bancarios</a:t>
            </a:r>
          </a:p>
          <a:p>
            <a:r>
              <a:t>↔ Service Domains BIAN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latin typeface="Calibri"/>
              </a:defRPr>
            </a:pPr>
            <a:r>
              <a:t>Investigación tecnológica · Design Science</a:t>
            </a:r>
          </a:p>
          <a:p>
            <a:pPr>
              <a:defRPr sz="2200">
                <a:latin typeface="Calibri"/>
              </a:defRPr>
            </a:pPr>
            <a:r>
              <a:t>IEEE: Knowledge Representation · ACM: Semantic networks</a:t>
            </a:r>
          </a:p>
          <a:p>
            <a:pPr>
              <a:defRPr sz="2200">
                <a:latin typeface="Calibri"/>
              </a:defRPr>
            </a:pPr>
            <a:r>
              <a:t>Grupo 9.2 — Alex Mancilla · Jack Paitan</a:t>
            </a:r>
          </a:p>
          <a:p>
            <a:pPr>
              <a:defRPr sz="2200">
                <a:latin typeface="Calibri"/>
              </a:defRPr>
            </a:pPr>
            <a:r>
              <a:t>Universidad Nacional de Ingeniería · 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 al tema (§1.1)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200">
                <a:latin typeface="Calibri"/>
              </a:defRPr>
            </a:pPr>
            <a:r>
              <a:t>OpenAPI: contrato YAML/JSON machine-readable (Casas et al., 2021)</a:t>
            </a:r>
          </a:p>
          <a:p>
            <a:pPr>
              <a:defRPr sz="2200">
                <a:latin typeface="Calibri"/>
              </a:defRPr>
            </a:pPr>
            <a:r>
              <a:t>BIAN: Service Domains como referencia de negocio (Farzi, 2021)</a:t>
            </a:r>
          </a:p>
          <a:p>
            <a:pPr>
              <a:defRPr sz="2200">
                <a:latin typeface="Calibri"/>
              </a:defRPr>
            </a:pPr>
            <a:r>
              <a:t>Alineación = correspondencia estructural + semántica contrato ↔ SD</a:t>
            </a:r>
          </a:p>
          <a:p>
            <a:pPr>
              <a:defRPr sz="2200">
                <a:latin typeface="Calibri"/>
              </a:defRPr>
            </a:pPr>
            <a:r>
              <a:t>Producto del plan: S, E, C → AlignmentScore (procedimiento reproducible)</a:t>
            </a:r>
          </a:p>
          <a:p>
            <a:pPr>
              <a:defRPr sz="2200">
                <a:latin typeface="Calibri"/>
              </a:defRPr>
            </a:pPr>
            <a:r>
              <a:t>Guía 1: diseño documentado; validación empírica → Tesis 2 (§1.6)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Ontología del plan — conceptos relacionados</a:t>
            </a:r>
          </a:p>
        </p:txBody>
      </p:sp>
      <p:pic>
        <p:nvPicPr>
          <p:cNvPr id="3" name="Picture 2" descr="Figura_02_Objeto_Unidad_Anali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64240" cy="11064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Calibri"/>
              </a:defRPr>
            </a:pPr>
            <a:r>
              <a:t>Contrato OpenAPI · UA instancia · Producto S/E/C · Referencia BIAN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Problemática — situación real: dónde y actores (§1.2)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200">
                <a:latin typeface="Calibri"/>
              </a:defRPr>
            </a:pPr>
            <a:r>
              <a:t>Dónde: ecosistema bancario digital — APIs propias, fintechs, open banking (CMA, 2016)</a:t>
            </a:r>
          </a:p>
          <a:p>
            <a:pPr>
              <a:defRPr sz="2200">
                <a:latin typeface="Calibri"/>
              </a:defRPr>
            </a:pPr>
            <a:r>
              <a:t>Ambiente virtual: contratos OpenAPI publicados antes del despliegue en canales</a:t>
            </a:r>
          </a:p>
          <a:p>
            <a:pPr>
              <a:defRPr sz="2200">
                <a:latin typeface="Calibri"/>
              </a:defRPr>
            </a:pPr>
            <a:r>
              <a:t>Actores: arquitectura, integración, gobernanza de APIs, socios externos</a:t>
            </a:r>
          </a:p>
          <a:p>
            <a:pPr>
              <a:defRPr sz="2200">
                <a:latin typeface="Calibri"/>
              </a:defRPr>
            </a:pPr>
            <a:r>
              <a:t>Proceso administrativo: revisión y certificación de interfaces REST</a:t>
            </a:r>
          </a:p>
          <a:p>
            <a:pPr>
              <a:defRPr sz="2200">
                <a:latin typeface="Calibri"/>
              </a:defRPr>
            </a:pPr>
            <a:r>
              <a:t>La problemática no se resuelve directamente con el artefacto del 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Problemática — síntomas, dolor y estadísticas (§1.2)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200">
                <a:latin typeface="Calibri"/>
              </a:defRPr>
            </a:pPr>
            <a:r>
              <a:t>Síntomas: fragmentación semántica, costos de integración, deriva negocio–REST</a:t>
            </a:r>
          </a:p>
          <a:p>
            <a:pPr>
              <a:defRPr sz="2200">
                <a:latin typeface="Calibri"/>
              </a:defRPr>
            </a:pPr>
            <a:r>
              <a:t>Dolor: retrabajo en adaptadores, ensayo–error, riesgo en releases (TSB, 2018)</a:t>
            </a:r>
          </a:p>
          <a:p>
            <a:pPr>
              <a:defRPr sz="2200">
                <a:latin typeface="Calibri"/>
              </a:defRPr>
            </a:pPr>
            <a:r>
              <a:t>Casas et al. (2021): 68 % papers proponen herramientas; 43 % documentación</a:t>
            </a:r>
          </a:p>
          <a:p>
            <a:pPr>
              <a:defRPr sz="2200">
                <a:latin typeface="Calibri"/>
              </a:defRPr>
            </a:pPr>
            <a:r>
              <a:t>Actores más afectados: equipos de integración y gobernanza de APIs</a:t>
            </a:r>
          </a:p>
          <a:p>
            <a:pPr>
              <a:defRPr sz="2200">
                <a:latin typeface="Calibri"/>
              </a:defRPr>
            </a:pPr>
            <a:r>
              <a:t>Motiva medir coherencia documental antes de exponer servicios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Objeto de estudio — situación subyacente (§1.4)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200">
                <a:latin typeface="Calibri"/>
              </a:defRPr>
            </a:pPr>
            <a:r>
              <a:t>Causa de síntomas: desalineación entre capa REST y modelo de negocio BIAN</a:t>
            </a:r>
          </a:p>
          <a:p>
            <a:pPr>
              <a:defRPr sz="2200">
                <a:latin typeface="Calibri"/>
              </a:defRPr>
            </a:pPr>
            <a:r>
              <a:t>Objeto: contrato OpenAPI bancario completo (archivo YAML/JSON)</a:t>
            </a:r>
          </a:p>
          <a:p>
            <a:pPr>
              <a:defRPr sz="2200">
                <a:latin typeface="Calibri"/>
              </a:defRPr>
            </a:pPr>
            <a:r>
              <a:t>Características: paths, operations, schemas, metadatos machine-readable</a:t>
            </a:r>
          </a:p>
          <a:p>
            <a:pPr>
              <a:defRPr sz="2200">
                <a:latin typeface="Calibri"/>
              </a:defRPr>
            </a:pPr>
            <a:r>
              <a:t>Dos jerarquías comparables: OpenAPI ↔ Service Domain BIAN</a:t>
            </a:r>
          </a:p>
          <a:p>
            <a:pPr>
              <a:defRPr sz="2200">
                <a:latin typeface="Calibri"/>
              </a:defRPr>
            </a:pPr>
            <a:r>
              <a:t>Usar ontología (slide anterior) para exponer el problema subyacente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Objeto de estudio real — taxonomía y ciclo de vida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200">
                <a:latin typeface="Calibri"/>
              </a:defRPr>
            </a:pPr>
            <a:r>
              <a:t>Entidad real: contrato OpenAPI publicado por un banco (independiente del observador)</a:t>
            </a:r>
          </a:p>
          <a:p>
            <a:pPr>
              <a:defRPr sz="2200">
                <a:latin typeface="Calibri"/>
              </a:defRPr>
            </a:pPr>
            <a:r>
              <a:t>Taxonomía: OpenAPI 3.x · dominios pagos / cuentas / préstamos · versiones</a:t>
            </a:r>
          </a:p>
          <a:p>
            <a:pPr>
              <a:defRPr sz="2200">
                <a:latin typeface="Calibri"/>
              </a:defRPr>
            </a:pPr>
            <a:r>
              <a:t>Ciclo de vida: diseño → revisión → publicación → consumo (no tráfico runtime)</a:t>
            </a:r>
          </a:p>
          <a:p>
            <a:pPr>
              <a:defRPr sz="2200">
                <a:latin typeface="Calibri"/>
              </a:defRPr>
            </a:pPr>
            <a:r>
              <a:t>Registro: archivo versionado en repositorio de APIs / portal de desarrolladores</a:t>
            </a:r>
          </a:p>
          <a:p>
            <a:pPr>
              <a:defRPr sz="2200">
                <a:latin typeface="Calibri"/>
              </a:defRPr>
            </a:pPr>
            <a:r>
              <a:t>Ejemplos Anexo F: pares contrato ↔ Payment Initiation SD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Instrumento y objeto modelado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Instrumento de captura:</a:t>
            </a:r>
          </a:p>
          <a:p>
            <a:pPr>
              <a:defRPr sz="2000">
                <a:latin typeface="Calibri"/>
              </a:defRPr>
            </a:pPr>
            <a:r>
              <a:t>• Parser OpenAPI 3.x + extracto BIAN</a:t>
            </a:r>
          </a:p>
          <a:p>
            <a:pPr>
              <a:defRPr sz="2000">
                <a:latin typeface="Calibri"/>
              </a:defRPr>
            </a:pPr>
            <a:r>
              <a:t>• Procedimiento de normalización (OE1)</a:t>
            </a:r>
          </a:p>
          <a:p>
            <a:pPr>
              <a:defRPr sz="2000">
                <a:latin typeface="Calibri"/>
              </a:defRPr>
            </a:pPr>
            <a:r>
              <a:t>• Schema matching + similitud semántica</a:t>
            </a:r>
          </a:p>
          <a:p>
            <a:pPr>
              <a:defRPr sz="2000">
                <a:latin typeface="Calibri"/>
              </a:defRPr>
            </a:pPr>
            <a:r>
              <a:t>Objeto modelado:</a:t>
            </a:r>
          </a:p>
          <a:p>
            <a:pPr>
              <a:defRPr sz="2000">
                <a:latin typeface="Calibri"/>
              </a:defRPr>
            </a:pPr>
            <a:r>
              <a:t>Representaciones normalizadas + matrices + scores S/E/C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Ejemplos de instancias (Anexo F):</a:t>
            </a:r>
          </a:p>
          <a:p>
            <a:pPr>
              <a:defRPr sz="2000">
                <a:latin typeface="Calibri"/>
              </a:defRPr>
            </a:pPr>
            <a:r>
              <a:t>Caso A: POST /payments vs InitiatePayment → afecta S</a:t>
            </a:r>
          </a:p>
          <a:p>
            <a:pPr>
              <a:defRPr sz="2000">
                <a:latin typeface="Calibri"/>
              </a:defRPr>
            </a:pPr>
            <a:r>
              <a:t>Caso B: GET /payments/{id} vs 3 behaviors → afecta C</a:t>
            </a:r>
          </a:p>
          <a:p>
            <a:pPr>
              <a:defRPr sz="2000">
                <a:latin typeface="Calibri"/>
              </a:defRPr>
            </a:pPr>
            <a:r>
              <a:t>Estados de clasificación del artefacto:</a:t>
            </a:r>
          </a:p>
          <a:p>
            <a:pPr>
              <a:defRPr sz="2000">
                <a:latin typeface="Calibri"/>
              </a:defRPr>
            </a:pPr>
            <a:r>
              <a:t>Alta ≥0,80 · Media 0,60–0,79</a:t>
            </a:r>
          </a:p>
          <a:p>
            <a:pPr>
              <a:defRPr sz="2000">
                <a:latin typeface="Calibri"/>
              </a:defRPr>
            </a:pPr>
            <a:r>
              <a:t>Baja 0,40–0,59 · Nula &lt;0,40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tecnológico y preguntas P1–P4 (§1.3)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200">
                <a:latin typeface="Calibri"/>
              </a:defRPr>
            </a:pPr>
            <a:r>
              <a:t>Artefacto: procedimiento + modelo S/E/C → AlignmentScore (software documentado)</a:t>
            </a:r>
          </a:p>
          <a:p>
            <a:pPr>
              <a:defRPr sz="2200">
                <a:latin typeface="Calibri"/>
              </a:defRPr>
            </a:pPr>
            <a:r>
              <a:t>Tipo: clasificación + regresión acotada [0,1] por score</a:t>
            </a:r>
          </a:p>
          <a:p>
            <a:pPr>
              <a:defRPr sz="2200">
                <a:latin typeface="Calibri"/>
              </a:defRPr>
            </a:pPr>
            <a:r>
              <a:t>Problema: métodos insuficientes / no adaptados a OpenAPI↔BIAN (Shvaiko, 2005; Casas, 2021)</a:t>
            </a:r>
          </a:p>
          <a:p>
            <a:pPr>
              <a:defRPr sz="2200">
                <a:latin typeface="Calibri"/>
              </a:defRPr>
            </a:pPr>
            <a:r>
              <a:t>P1 matching estructural · P2 similitud semántica · P3 cobertura · P4 score integrado</a:t>
            </a:r>
          </a:p>
          <a:p>
            <a:pPr>
              <a:defRPr sz="2200">
                <a:latin typeface="Calibri"/>
              </a:defRPr>
            </a:pPr>
            <a:r>
              <a:t>Solo relacionado al artefacto a diseñar — no a la problemática del sector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general (técnico) — insumo y variable dependiente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200">
                <a:latin typeface="Calibri"/>
              </a:defRPr>
            </a:pPr>
            <a:r>
              <a:t>Insumo inicial: contrato OpenAPI bancario + Service Domain BIAN emparejado</a:t>
            </a:r>
          </a:p>
          <a:p>
            <a:pPr>
              <a:defRPr sz="2200">
                <a:latin typeface="Calibri"/>
              </a:defRPr>
            </a:pPr>
            <a:r>
              <a:t>OG: diseñar modelo S/E/C y procedimiento reproducible de alineación</a:t>
            </a:r>
          </a:p>
          <a:p>
            <a:pPr>
              <a:defRPr sz="2200">
                <a:latin typeface="Calibri"/>
              </a:defRPr>
            </a:pPr>
            <a:r>
              <a:t>Variable dependiente del artefacto: AlignmentScore ∈ [0,1] + clasificación</a:t>
            </a:r>
          </a:p>
          <a:p>
            <a:pPr>
              <a:defRPr sz="2200">
                <a:latin typeface="Calibri"/>
              </a:defRPr>
            </a:pPr>
            <a:r>
              <a:t>Objetivo superior (consecuencia): cuantificar coherencia antes del despliegue</a:t>
            </a:r>
          </a:p>
          <a:p>
            <a:pPr>
              <a:defRPr sz="2200">
                <a:latin typeface="Calibri"/>
              </a:defRPr>
            </a:pPr>
            <a:r>
              <a:t>Medida de desempeño: S, E, C y score integrado por contrato × SD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específicos OE1–OE4 (entrada → producto)</a:t>
            </a:r>
          </a:p>
        </p:txBody>
      </p:sp>
      <p:pic>
        <p:nvPicPr>
          <p:cNvPr id="3" name="Picture 2" descr="Figura_04_Cadena_Objetiv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64240" cy="11064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Calibri"/>
              </a:defRPr>
            </a:pPr>
            <a:r>
              <a:t>Cada OE es hito con producto medible — no «programar» ni «experimentar»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independientes — factores del investigador (Tabla 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8138159" cy="369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6579"/>
                <a:gridCol w="3092500"/>
                <a:gridCol w="4069080"/>
              </a:tblGrid>
              <a:tr h="739749"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OE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Factor (VI)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Estados / alternativas</a:t>
                      </a:r>
                    </a:p>
                  </a:txBody>
                  <a:tcPr anchor="ctr"/>
                </a:tc>
              </a:tr>
              <a:tr h="739749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OE1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Esquema de representación intermedia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Paths/schemas vs behaviors/BO normalizados</a:t>
                      </a:r>
                    </a:p>
                  </a:txBody>
                  <a:tcPr anchor="ctr"/>
                </a:tc>
              </a:tr>
              <a:tr h="739749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OE2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Estrategia de schema matching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Correspondencia estructural + umbral fijo</a:t>
                      </a:r>
                    </a:p>
                  </a:txBody>
                  <a:tcPr anchor="ctr"/>
                </a:tc>
              </a:tr>
              <a:tr h="739749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OE3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Técnica de similitud semántica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Embeddings / ontología / híbrido</a:t>
                      </a:r>
                    </a:p>
                  </a:txBody>
                  <a:tcPr anchor="ctr"/>
                </a:tc>
              </a:tr>
              <a:tr h="739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OE4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Pesos α, β, γ de agregación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α+β+γ=1; taxonomía de tipologías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dependientes — ratios por OE (Tabla 5 · Anexo 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8138159" cy="369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816"/>
                <a:gridCol w="3418027"/>
                <a:gridCol w="3906316"/>
              </a:tblGrid>
              <a:tr h="739749"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OE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Ratio (VD)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Rango / fórmula</a:t>
                      </a:r>
                    </a:p>
                  </a:txBody>
                  <a:tcPr anchor="ctr"/>
                </a:tc>
              </a:tr>
              <a:tr h="739749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OE1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Completitud de normalización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Elementos extraídos / esperados</a:t>
                      </a:r>
                    </a:p>
                  </a:txBody>
                  <a:tcPr anchor="ctr"/>
                </a:tc>
              </a:tr>
              <a:tr h="739749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OE2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StructuralScore (E)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E ∈ [0, 1] — schema matching</a:t>
                      </a:r>
                    </a:p>
                  </a:txBody>
                  <a:tcPr anchor="ctr"/>
                </a:tc>
              </a:tr>
              <a:tr h="739749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OE3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SemanticScore 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 ∈ [0, 1] — similitud semántica</a:t>
                      </a:r>
                    </a:p>
                  </a:txBody>
                  <a:tcPr anchor="ctr"/>
                </a:tc>
              </a:tr>
              <a:tr h="739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OE4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CoverageScore (C); AlignmentScore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 ∈ [0,1]; Score = αS+βE+γC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Metodología — hitos / fases con verbos (§4.2 · §4.2.1)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200">
                <a:latin typeface="Calibri"/>
              </a:defRPr>
            </a:pPr>
            <a:r>
              <a:t>Fase 1 · Diseñar entradas, scores y umbrales → modelo S/E/C documentado</a:t>
            </a:r>
          </a:p>
          <a:p>
            <a:pPr>
              <a:defRPr sz="2200">
                <a:latin typeface="Calibri"/>
              </a:defRPr>
            </a:pPr>
            <a:r>
              <a:t>Fase 2 · Normalizar contrato + SD → representaciones comparables (OE1)</a:t>
            </a:r>
          </a:p>
          <a:p>
            <a:pPr>
              <a:defRPr sz="2200">
                <a:latin typeface="Calibri"/>
              </a:defRPr>
            </a:pPr>
            <a:r>
              <a:t>Fase 3 · Emparejar estructuras → StructuralScore E (OE2)</a:t>
            </a:r>
          </a:p>
          <a:p>
            <a:pPr>
              <a:defRPr sz="2200">
                <a:latin typeface="Calibri"/>
              </a:defRPr>
            </a:pPr>
            <a:r>
              <a:t>Fase 4 · Calcular similitud → SemanticScore S (OE3)</a:t>
            </a:r>
          </a:p>
          <a:p>
            <a:pPr>
              <a:defRPr sz="2200">
                <a:latin typeface="Calibri"/>
              </a:defRPr>
            </a:pPr>
            <a:r>
              <a:t>Fase 5 · Integrar S,E,C → CoverageScore + AlignmentScore + tipologías (OE4)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Artefacto — modelo de alineación S / E / C</a:t>
            </a:r>
          </a:p>
        </p:txBody>
      </p:sp>
      <p:pic>
        <p:nvPicPr>
          <p:cNvPr id="3" name="Picture 2" descr="Figura_03_Alignment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64240" cy="46388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Calibri"/>
              </a:defRPr>
            </a:pPr>
            <a:r>
              <a:t>AlignmentScore = α·S + β·E + γ·C  →  Alta / Media / Baja / Nula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Matriz de consistencia (I) — Anexo 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8138159" cy="369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816"/>
                <a:gridCol w="2441448"/>
                <a:gridCol w="2278684"/>
                <a:gridCol w="2604211"/>
              </a:tblGrid>
              <a:tr h="924687"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Problema tecnológico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Objetivo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Producto verificable</a:t>
                      </a:r>
                    </a:p>
                  </a:txBody>
                  <a:tcPr anchor="ctr"/>
                </a:tc>
              </a:tr>
              <a:tr h="924687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Fase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Método insuficiente para cuantificar alineación OpenAPI↔BIAN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Diseñar modelo S/E/C y procedimiento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Modelo metodológico documentado (Anexo C)</a:t>
                      </a:r>
                    </a:p>
                  </a:txBody>
                  <a:tcPr anchor="ctr"/>
                </a:tc>
              </a:tr>
              <a:tr h="924687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Fase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Representaciones no comparables entre contrato y 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OE1 · Normalizar artefactos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Representaciones normalizadas versionadas</a:t>
                      </a:r>
                    </a:p>
                  </a:txBody>
                  <a:tcPr anchor="ctr"/>
                </a:tc>
              </a:tr>
              <a:tr h="924687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Fase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Sin StructuralScore sistemático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OE2 · Emparejar estructuras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Matriz correspondencias + E ∈ [0,1]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Matriz de consistencia (II) — VI · VD · Hipótesis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51560"/>
          <a:ext cx="8138158" cy="369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816"/>
                <a:gridCol w="1953158"/>
                <a:gridCol w="2278684"/>
                <a:gridCol w="3092500"/>
              </a:tblGrid>
              <a:tr h="616458"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Variable independiente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Variable dependiente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Hipótesis (síntesis)</a:t>
                      </a:r>
                    </a:p>
                  </a:txBody>
                  <a:tcPr anchor="ctr"/>
                </a:tc>
              </a:tr>
              <a:tr h="61645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Fase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Esquema S/E/C; pesos α,β,γ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Definición scores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H0: modelo S/E/C reproducible</a:t>
                      </a:r>
                    </a:p>
                  </a:txBody>
                  <a:tcPr anchor="ctr"/>
                </a:tc>
              </a:tr>
              <a:tr h="61645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Fase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Esquema intermedio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Completitud normalización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H1 (OE1)</a:t>
                      </a:r>
                    </a:p>
                  </a:txBody>
                  <a:tcPr anchor="ctr"/>
                </a:tc>
              </a:tr>
              <a:tr h="61645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Fase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Schema matching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StructuralScore 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H2 (OE2)</a:t>
                      </a:r>
                    </a:p>
                  </a:txBody>
                  <a:tcPr anchor="ctr"/>
                </a:tc>
              </a:tr>
              <a:tr h="61645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Fase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Similitud semántica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SemanticScore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H3 (OE3)</a:t>
                      </a:r>
                    </a:p>
                  </a:txBody>
                  <a:tcPr anchor="ctr"/>
                </a:tc>
              </a:tr>
              <a:tr h="61645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Fase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Pesos α,β,γ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C; AlignmentScore; clasif.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H4 (OE4)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Brecha de investigación V1–V5 (§3.6) — no confundir con matriz</a:t>
            </a:r>
          </a:p>
        </p:txBody>
      </p:sp>
      <p:pic>
        <p:nvPicPr>
          <p:cNvPr id="3" name="Picture 2" descr="Figura_06_Brec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64240" cy="11064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263640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latin typeface="Calibri"/>
              </a:defRPr>
            </a:pPr>
            <a:r>
              <a:t>Brecha = estado del arte · Matriz = problema tecnológico del diseño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 — relaciones entre conceptos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200">
                <a:latin typeface="Calibri"/>
              </a:defRPr>
            </a:pPr>
            <a:r>
              <a:t>OpenAPI maduro técnicamente; falta procedimiento OpenAPI↔BIAN reproducible</a:t>
            </a:r>
          </a:p>
          <a:p>
            <a:pPr>
              <a:defRPr sz="2200">
                <a:latin typeface="Calibri"/>
              </a:defRPr>
            </a:pPr>
            <a:r>
              <a:t>Objeto (contrato) + referencia (BIAN) + UA (instancia) → scores S/E/C integrados</a:t>
            </a:r>
          </a:p>
          <a:p>
            <a:pPr>
              <a:defRPr sz="2200">
                <a:latin typeface="Calibri"/>
              </a:defRPr>
            </a:pPr>
            <a:r>
              <a:t>OE1–OE4 encadenan transformaciones con productos verificables</a:t>
            </a:r>
          </a:p>
          <a:p>
            <a:pPr>
              <a:defRPr sz="2200">
                <a:latin typeface="Calibri"/>
              </a:defRPr>
            </a:pPr>
            <a:r>
              <a:t>Matriz Anexo C alinea problema tecnológico, objetivos, VI/VD e hipótesis</a:t>
            </a:r>
          </a:p>
          <a:p>
            <a:pPr>
              <a:defRPr sz="2200">
                <a:latin typeface="Calibri"/>
              </a:defRPr>
            </a:pPr>
            <a:r>
              <a:t>Guía 1 entrega diseño; Tesis 2: artefacto software y validación empírica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Recomendaciones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Implementar artefacto software según procedimiento §4.2 (Tesis 2)</a:t>
            </a:r>
          </a:p>
          <a:p>
            <a:pPr>
              <a:defRPr sz="2000">
                <a:latin typeface="Calibri"/>
              </a:defRPr>
            </a:pPr>
            <a:r>
              <a:t>Calibrar umbrales 0,80/0,60/0,40 con muestra bancaria representativa</a:t>
            </a:r>
          </a:p>
          <a:p>
            <a:pPr>
              <a:defRPr sz="2000">
                <a:latin typeface="Calibri"/>
              </a:defRPr>
            </a:pPr>
            <a:r>
              <a:t>Validar hipótesis H1–H4 con contratos OpenAPI 3.x públicos (Anexo F)</a:t>
            </a:r>
          </a:p>
          <a:p>
            <a:pPr>
              <a:defRPr sz="2000">
                <a:latin typeface="Calibri"/>
              </a:defRPr>
            </a:pPr>
            <a:r>
              <a:t>Integrar score en pipeline de gobernanza de APIs antes del despliegue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Referencias citadas en esta exposición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Casas, L., Pinto, S. &amp; Silva, J. (2021). OpenAPI specification survey. J. Syst. Softw.</a:t>
            </a:r>
          </a:p>
          <a:p>
            <a:pPr>
              <a:defRPr sz="2000">
                <a:latin typeface="Calibri"/>
              </a:defRPr>
            </a:pPr>
            <a:r>
              <a:t>Shvaiko, P. &amp; Euzenat, J. (2005). A survey of schema-based matching approaches. J. Data Semant.</a:t>
            </a:r>
          </a:p>
          <a:p>
            <a:pPr>
              <a:defRPr sz="2000">
                <a:latin typeface="Calibri"/>
              </a:defRPr>
            </a:pPr>
            <a:r>
              <a:t>Farzi, H. et al. (2021). BIAN service landscape. BIAN documentation.</a:t>
            </a:r>
          </a:p>
          <a:p>
            <a:pPr>
              <a:defRPr sz="2000">
                <a:latin typeface="Calibri"/>
              </a:defRPr>
            </a:pPr>
            <a:r>
              <a:t>CMA (2016). Retail banking market investigation. UK Competition and Markets Authority.</a:t>
            </a:r>
          </a:p>
          <a:p>
            <a:pPr>
              <a:defRPr sz="2000">
                <a:latin typeface="Calibri"/>
              </a:defRPr>
            </a:pPr>
            <a:r>
              <a:t>UK Treasury / TSB (2018). Independent review of TSB IT failure.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1452</Words>
  <Application>Microsoft Office PowerPoint</Application>
  <PresentationFormat>Presentación en pantalla (16:9)</PresentationFormat>
  <Paragraphs>238</Paragraphs>
  <Slides>24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Arial Narrow</vt:lpstr>
      <vt:lpstr>Calibri</vt:lpstr>
      <vt:lpstr>Futura Md BT</vt:lpstr>
      <vt:lpstr>Simple Light</vt:lpstr>
      <vt:lpstr>Titulo</vt:lpstr>
      <vt:lpstr>Formato</vt:lpstr>
      <vt:lpstr>Fuentes</vt:lpstr>
      <vt:lpstr>Introducción </vt:lpstr>
      <vt:lpstr>Ontologia de la Tesis</vt:lpstr>
      <vt:lpstr>Problemática</vt:lpstr>
      <vt:lpstr>Problemática</vt:lpstr>
      <vt:lpstr>Objeto de Estudio</vt:lpstr>
      <vt:lpstr>Objeto de estudio real</vt:lpstr>
      <vt:lpstr>Instrumento para medir el objeto de estudio.</vt:lpstr>
      <vt:lpstr>Objeto de estudio modelado</vt:lpstr>
      <vt:lpstr>Problema tecnológico</vt:lpstr>
      <vt:lpstr>Planteamiento del Problema Tecnológico</vt:lpstr>
      <vt:lpstr>Problemas específicos</vt:lpstr>
      <vt:lpstr>Objetivo General</vt:lpstr>
      <vt:lpstr>Objetivos Específicos</vt:lpstr>
      <vt:lpstr>Variables independientes</vt:lpstr>
      <vt:lpstr>Variables independientes</vt:lpstr>
      <vt:lpstr>Variable dependiente</vt:lpstr>
      <vt:lpstr>Metodología de la investigación </vt:lpstr>
      <vt:lpstr>Matriz de consistencia</vt:lpstr>
      <vt:lpstr>Conclusiones</vt:lpstr>
      <vt:lpstr>Recomendaciones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</dc:title>
  <dc:creator>sds sdsd</dc:creator>
  <cp:lastModifiedBy>sumaqkaypacha@gmail.com</cp:lastModifiedBy>
  <cp:revision>25</cp:revision>
  <dcterms:modified xsi:type="dcterms:W3CDTF">2026-07-22T22:09:01Z</dcterms:modified>
</cp:coreProperties>
</file>